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0D8FA-7E36-4FF9-87F1-E199D706AECA}" v="4" dt="2026-09-13T02:06:04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2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80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MASTER 7기  ·  최종 발표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28016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r>
              <a:rPr lang="en-US" altLang="ko-KR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4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</a:t>
            </a: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위원회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468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규율은 세울 때가 아니라 흔들릴 때 필요하다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무엇을 맡기고 무엇을 맡기지 않을지를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설계하고, 실측으로 정한 8주의 기록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159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하나 · 분야 세 개 — 새 분야를 열어도 엔진 코드는 0줄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1298448" cy="438912"/>
          </a:xfrm>
          <a:prstGeom prst="roundRect">
            <a:avLst>
              <a:gd name="adj" fmla="val 20833"/>
            </a:avLst>
          </a:prstGeom>
          <a:solidFill>
            <a:srgbClr val="17324B"/>
          </a:solidFill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4617720"/>
            <a:ext cx="1298448" cy="438912"/>
          </a:xfrm>
          <a:prstGeom prst="roundRect">
            <a:avLst>
              <a:gd name="adj" fmla="val 20833"/>
            </a:avLst>
          </a:prstGeom>
          <a:solidFill>
            <a:srgbClr val="17324B"/>
          </a:solidFill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286000" y="4617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4617720"/>
            <a:ext cx="1298448" cy="438912"/>
          </a:xfrm>
          <a:prstGeom prst="roundRect">
            <a:avLst>
              <a:gd name="adj" fmla="val 20833"/>
            </a:avLst>
          </a:prstGeom>
          <a:solidFill>
            <a:srgbClr val="17324B"/>
          </a:solidFill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3703320" y="46177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충동구매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멘티</a:t>
            </a:r>
            <a:r>
              <a:rPr lang="en-US" altLang="ko-KR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정기백</a:t>
            </a:r>
            <a:r>
              <a:rPr lang="en-US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(09912)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1188720"/>
            <a:ext cx="3429000" cy="4892040"/>
          </a:xfrm>
          <a:prstGeom prst="roundRect">
            <a:avLst>
              <a:gd name="adj" fmla="val 2667"/>
            </a:avLst>
          </a:prstGeom>
          <a:solidFill>
            <a:srgbClr val="17324B"/>
          </a:solidFill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582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코드가 한다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두 곳에만 — 읽는 자리, 말로 옮기는 자리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788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—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58200" y="3300984"/>
            <a:ext cx="2926080" cy="0"/>
          </a:xfrm>
          <a:prstGeom prst="line">
            <a:avLst/>
          </a:prstGeom>
          <a:noFill/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458200" y="3538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35387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 — 코드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58200" y="4050792"/>
            <a:ext cx="2926080" cy="0"/>
          </a:xfrm>
          <a:prstGeom prst="line">
            <a:avLst/>
          </a:prstGeom>
          <a:noFill/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458200" y="42885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42885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안에서만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8200" y="4800600"/>
            <a:ext cx="2926080" cy="0"/>
          </a:xfrm>
          <a:prstGeom prst="line">
            <a:avLst/>
          </a:prstGeom>
          <a:noFill/>
          <a:ln w="12700">
            <a:solidFill>
              <a:srgbClr val="3155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458200" y="5038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50383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6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EB187FF-E035-8909-3605-79D5C9488AFD}"/>
              </a:ext>
            </a:extLst>
          </p:cNvPr>
          <p:cNvSpPr txBox="1"/>
          <p:nvPr/>
        </p:nvSpPr>
        <p:spPr>
          <a:xfrm>
            <a:off x="86868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</a:t>
            </a:r>
            <a:r>
              <a:rPr lang="en-US" altLang="ko-KR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김진홍 </a:t>
            </a:r>
            <a:r>
              <a:rPr lang="en-US" altLang="ko-KR" sz="140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보조멘토</a:t>
            </a:r>
            <a:r>
              <a:rPr lang="en-US" altLang="ko-KR" sz="1400" dirty="0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00" dirty="0" err="1">
                <a:solidFill>
                  <a:srgbClr val="8C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정혜수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회사에는 한도가 있는데, 제 계좌에는 없습니다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없어서가 아닙니다 — 규칙이 필요한 순간이 판단력이 제일 낮은 순간입니다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한도를 넘으면</a:t>
            </a:r>
            <a:endParaRPr lang="en-US" sz="26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시스템이 막습니다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담당자의 기분과 상관없이요.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시스템 · 20년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611112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막아 주는 것이</a:t>
            </a:r>
            <a:endParaRPr lang="en-US" sz="26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없습니다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11112" y="3474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다들 갖고 있습니다.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십만 원 넘으면 사흘 기다리기, 한 종목에 몰지 않기.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525780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그 규칙이 필요한 순간이 하필 판단력이 제일 낮은 순간이라는 것입니다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 — 흔들릴 때 대신 물어봐 주는 자리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챗봇은 그 자리에서 지어낸 답, 위원회는 저장된 원칙과 대조한 답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50292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425696" cy="42153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1554480"/>
            <a:ext cx="5623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21792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938528"/>
            <a:ext cx="5166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사도 될까."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89320" y="2468880"/>
            <a:ext cx="5623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217920" y="2578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852928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달 벌써 두 번째예요.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정하신 규칙은 십만 원 넘으면 사흘 기다리기였어요."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89320" y="3794760"/>
            <a:ext cx="5623560" cy="1097280"/>
          </a:xfrm>
          <a:prstGeom prst="roundRect">
            <a:avLst>
              <a:gd name="adj" fmla="val 6667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217920" y="3904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말뭉치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4178808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"지난달에도 같은 자리에서 이번엔 다르다고 하셨습니다.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사흘 기다리고 안 사셨고요."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5166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전에 심의받은 내용과 그때 남긴 말 — 말뭉치를 찾아 불러옵니다.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9320" y="5577840"/>
            <a:ext cx="5623560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172200" y="557784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그때의 내가 지금의 나를 한 번 더 붙잡아 줍니다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989320" y="626364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마지막 선택은 사용자가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— 엔진 하나, 그리고 팩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코드로 두면 답이 흔들리지 않는다 · 분야를 팩으로 떼면 엔진을 다시 안 만들어도 된다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16052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도메인을 모른다</a:t>
            </a:r>
            <a:endParaRPr lang="en-US" sz="13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3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「원칙과 대조한다」는 절차뿐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343400"/>
            <a:ext cx="3300984" cy="1371600"/>
          </a:xfrm>
          <a:prstGeom prst="roundRect">
            <a:avLst>
              <a:gd name="adj" fmla="val 5333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5528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연금투자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956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대표 팩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95528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항목 · 낱말 · 검사할 원칙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3984" y="4343400"/>
            <a:ext cx="3300984" cy="1371600"/>
          </a:xfrm>
          <a:prstGeom prst="roundRect">
            <a:avLst>
              <a:gd name="adj" fmla="val 5333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672584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72584" y="4956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엔진 · 설정만 다름</a:t>
            </a: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672584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항목 · 낱말 · 검사할 원칙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4343400"/>
            <a:ext cx="3300984" cy="1371600"/>
          </a:xfrm>
          <a:prstGeom prst="roundRect">
            <a:avLst>
              <a:gd name="adj" fmla="val 5333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54964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충동구매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956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엔진 · 설정만 다름</a:t>
            </a: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549640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항목 · 낱말 · 검사할 원칙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53328" y="4023360"/>
            <a:ext cx="0" cy="310896"/>
          </a:xfrm>
          <a:prstGeom prst="line">
            <a:avLst/>
          </a:prstGeom>
          <a:noFill/>
          <a:ln w="254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395728" y="4142232"/>
            <a:ext cx="7717536" cy="0"/>
          </a:xfrm>
          <a:prstGeom prst="line">
            <a:avLst/>
          </a:prstGeom>
          <a:noFill/>
          <a:ln w="254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95728" y="4142232"/>
            <a:ext cx="0" cy="192024"/>
          </a:xfrm>
          <a:prstGeom prst="line">
            <a:avLst/>
          </a:prstGeom>
          <a:noFill/>
          <a:ln w="254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113264" y="4197096"/>
            <a:ext cx="0" cy="137160"/>
          </a:xfrm>
          <a:prstGeom prst="line">
            <a:avLst/>
          </a:prstGeom>
          <a:noFill/>
          <a:ln w="254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238744" y="1746504"/>
            <a:ext cx="1828800" cy="374904"/>
          </a:xfrm>
          <a:prstGeom prst="roundRect">
            <a:avLst>
              <a:gd name="adj" fmla="val 2439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81079" y="1783080"/>
            <a:ext cx="1746504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코드 0줄 수정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136392"/>
            <a:ext cx="1746504" cy="4114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팩 = YAML 설정 파일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714232" y="34838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분야를 넓힐 때 고치는 건 이 파일뿐입니다.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엔진은 그대로 재활용합니다.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833872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49808" y="5833872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팩을 교체하면 여러 도메인에서 재활용되는 자기 규율 플랫폼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— 이 그림은 색깔이 곧 설계입니다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장부터는 이 그림의 칸을 하나씩 확대합니다 — 파랑과 빨강이 합쳐 엔진입니다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pic>
        <p:nvPicPr>
          <p:cNvPr id="8" name="Image 0" descr="전체흐름도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821" y="1453896"/>
            <a:ext cx="7269480" cy="4882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371600"/>
            <a:ext cx="3520440" cy="1124712"/>
          </a:xfrm>
          <a:prstGeom prst="roundRect">
            <a:avLst>
              <a:gd name="adj" fmla="val 6504"/>
            </a:avLst>
          </a:prstGeom>
          <a:solidFill>
            <a:srgbClr val="DCE9F5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93608" y="15727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B62A8"/>
          </a:solidFill>
          <a:ln w="12700">
            <a:solidFill>
              <a:srgbClr val="2B6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59368" y="1536192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실선 = 코드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93608" y="1901952"/>
            <a:ext cx="3118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4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검사하고 확정합니다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B4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이 안에서 끝납니다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2578608"/>
            <a:ext cx="3520440" cy="1124712"/>
          </a:xfrm>
          <a:prstGeom prst="roundRect">
            <a:avLst>
              <a:gd name="adj" fmla="val 6504"/>
            </a:avLst>
          </a:prstGeom>
          <a:solidFill>
            <a:srgbClr val="FBE6E3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293608" y="27797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659368" y="2743200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2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 = AI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3108960"/>
            <a:ext cx="3118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E2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 다섯입니다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E2B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말로 옮기기만 합니다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3785616"/>
            <a:ext cx="3520440" cy="1124712"/>
          </a:xfrm>
          <a:prstGeom prst="roundRect">
            <a:avLst>
              <a:gd name="adj" fmla="val 6504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293608" y="39867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659368" y="395020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= 선언 파일(팩)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93608" y="4315968"/>
            <a:ext cx="3118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분야를 열 때 고치는 건 여기뿐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코드는 0줄입니다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4992624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293608" y="517550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“숫자를 다시 계산하지 않는다”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93608" y="5559552"/>
            <a:ext cx="3118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칸 안에 적어 둔 문장입니다.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낸 판정을 AI가 되돌리는 길이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없다는 뜻입니다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— 모델이 읽고, 코드가 검사한다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발표에서 제일 중요한 자리입니다. 뒤 이야기가 전부 여기에 걸려 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모델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0848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읽는다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말을 읽는 자리 · 결과를 사람 말로 푸는 자리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값의 모양과 설명을 받는다 — 확정은 하지 않는다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19672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0848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검사한다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항목마다 검사 함수 하나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확정은 언제나 검사 함수 안에서만 난다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사유는 세 가지뿐입니다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4407408"/>
            <a:ext cx="110459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407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모양이 안 맞는다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110459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956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not_in_set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4956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목록에 없다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5504688"/>
            <a:ext cx="1104595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5504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echo_mismatch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55046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쓴 말과 다르다 — 지어낸 값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08192"/>
            <a:ext cx="11045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읽기는 무한하지만, 검사는 유한합니다  —  세 가지뿐이니까 시험지(골든)로 잠글 수 있습니다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벽 — 입력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판정하려면 알아야 할 것이 있는데, 그걸 양식으로 받으면 아무도 안 씁니다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양식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83464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51560" y="2834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33756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51560" y="33375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사는지 파는지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051560" y="384048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있던 돈인지 새 돈인지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34340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51560" y="43434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분야마다 더…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안 쓸 물건이 됐습니다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6459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611112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"반도체 오백만 원</a:t>
            </a:r>
            <a:endParaRPr lang="en-US" sz="27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번에 나눠서요"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4114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싶은 마음이 급한데 빈칸을 하나씩 채우라고 하면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쓰는 물건이 됩니다. 그래서 채팅으로 바꿨습니다.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562356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749808" y="562356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그 다음에 진짜 벽이 왔습니다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벽 — 만 줄짜리 낱말표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알아들을 때마다 한 줄씩 더하다 보니, 그 코드가 만 줄이 됐습니다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"매도"만 알면 될 줄 알았습니다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팔고 · 정리하려고 · 빼려는데 · 덜어내고</a:t>
            </a:r>
            <a:endParaRPr lang="en-US" sz="17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처분하려고 · 줄이려고 · 손절 · 익절 · …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아침에도 못 읽는 문장이 하나 나올 것이고,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한 줄을 더할 겁니다. 끝이 없습니다.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3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665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순서를 뒤집었습니다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  낱말표가 먼저 읽고, 못 읽으면 AI가 돕는다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2971800"/>
            <a:ext cx="4572000" cy="0"/>
          </a:xfrm>
          <a:prstGeom prst="line">
            <a:avLst/>
          </a:prstGeom>
          <a:noFill/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6656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  AI가 먼저 읽고, 코드가 검사한다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말씀드린 계약이 바로 이 벽에서 나왔습니다.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02920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49808" y="502920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낱말을 목록에 더해서 증상을 없애지 마라 — 그게 만 줄을 키운 길이다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60720"/>
            <a:ext cx="11045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증상이 사라지면 고친 것 같지만, 사실은 다음 증상을 미룬 것뿐입니다.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접수층 — 그 계약이 사는 자리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말을 받아, 판정이 쓸 수 있는 값으로 만들어 주는 층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pic>
        <p:nvPicPr>
          <p:cNvPr id="8" name="Image 0" descr="접수층흐름도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371600"/>
            <a:ext cx="768096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37160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686800" y="1572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떼어낼 수 있는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부품으로 설계했나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규율 앱 자체는 시장이 크지 않습니다.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 부품은 회사에서 업무로 쓰는 앱에도 그대로 재활용할 수 있습니다.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84048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68680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세게 그었습니다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498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렌더링 도구를 모른다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864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서버를 모른다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5230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어느 분야인지 모른다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596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경계를 말이 아니라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검사가 막습니다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58200" y="6172200"/>
            <a:ext cx="3154680" cy="475488"/>
          </a:xfrm>
          <a:prstGeom prst="roundRect">
            <a:avLst>
              <a:gd name="adj" fmla="val 19231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458200" y="61722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부품만 시험 600건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일곱 개 — 첫 층만 AI, 나머지 여섯은 코드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화면보다 로그가 정확합니다. 줄 앞에 누가 처리했는지가 찍힙니다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pic>
        <p:nvPicPr>
          <p:cNvPr id="8" name="Image 0" descr="실측-터미널-세팩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371600"/>
            <a:ext cx="768096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371600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 일곱 개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01168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0116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쪼갠다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0" y="2011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23591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3591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배분한다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424160" y="23591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27066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검사한다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24160" y="27066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30540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30540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가른다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424160" y="30540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4015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006840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되묻는다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424160" y="34015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7490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006840" y="37490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되읽어 준다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0" y="3749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40965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006840" y="4096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봉투에 담는다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24160" y="4096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458200" y="48006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68680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이름표만 붙입니다.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채우는 건 코드입니다.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0" y="5532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필터로 막는 게 아니라, 애초에 판단할 권한을 주지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일하는 자리 — 일곱 군데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안에서는 자율성을 억제했고, 만드는 과정에서 코딩 공장 자동화는 극단적으로 풀었습니다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Image 0" descr="AI가일하는자리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371600"/>
            <a:ext cx="768096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137160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6868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 다섯 명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0116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시장분석가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20116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— 거래소·공공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원칙검사관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23774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낸 판정을 말로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7432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과거기록관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27432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심의를 인용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089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의장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921240" y="3108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결론은 안 낸다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4747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반론자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921240" y="34747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위원을 읽고 반박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58200" y="406908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686800" y="42245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판정이 대화의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산물이 되면 안 됩니다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458200" y="5303520"/>
            <a:ext cx="3154680" cy="822960"/>
          </a:xfrm>
          <a:prstGeom prst="roundRect">
            <a:avLst>
              <a:gd name="adj" fmla="val 8889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686800" y="5303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쓰는 곳은 딱 하나 — 판정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랭그래프가 아니었나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초기에 검토했고, 안 쓰기로 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붙이면 얻는 것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언제 무슨 판단을 했는지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따라갈 수 있습니다.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19672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필요했던 것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331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입력에 같은 판정이 나오는가.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그건 어떤 도구를 붙여도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안에서는 보장되지 않습니다.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448056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체인이 아니라 계약을 골랐습니다 — 모델이 읽고, 코드가 검사한다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— 숫자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판정을 코드로 뒀는가. 감이 아니라 실측으로 정했습니다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63040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모델은 온도 파라미터를 아예 받지 않습니다 — 영으로 줬는데 안 먹는 게 아니라, 줄 자리가 없습니다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49808" y="221284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510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2026-08-29  첫 측정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3284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166개를 3~5번씩. 매번 다른 답이 나온 건수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498848" y="221284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546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2026-09-10  재측정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3284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달 사이 모델도 코드도 바뀌었는데 줄지 않았다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5008" y="2011680"/>
            <a:ext cx="35478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247888" y="2212848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38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99923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코드 ↔ 새 코드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332841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정답지로 나란히 대조. 어긋난 것 없음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11045952" cy="1051560"/>
          </a:xfrm>
          <a:prstGeom prst="roundRect">
            <a:avLst>
              <a:gd name="adj" fmla="val 6957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4114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앞의 둘과 뒤의 하나는 축이 다릅니다  —  앞은 「같은 답이 나오는가」, 뒤는 「맞는 답이 나오는가」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6928" y="544068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49808" y="544068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재현되지 않는 판정은 판정이 아닙니다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— 무엇을 어떻게 쟀나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하나만 더 보여드립니다 — 재현성·정확성·커버리지, 세 가지를 쟀습니다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572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같은 답이 나오는가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166문장 전수 재측정 · 2026-09-10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문장마다 3~5회, 모두 546회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6060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953512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990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9900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33741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3741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3721608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판정 입력까지 갈림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3758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105656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쟀음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4142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15968" y="13716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0" y="1572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맞는 답이 나오는가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엔진 1 ↔ 2 대조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정답지를 옛 코드와 새 코드에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606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대조한 판정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6060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38건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0" y="2953512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572000" y="2990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어긋난 것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9900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0" y="3337560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4572000" y="33741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정답지 — 연금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3741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38문항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0" y="3721608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4572000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정답지 — 대출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3758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10문항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572000" y="4105656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57200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코드 수정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4142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0줄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065008" y="13716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321040" y="1572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무엇이 막고 있는가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1938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때마다 도는 자동 검사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빨개지면 변경이 못 들어옵니다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26060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접수층 부품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607040" y="26060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600건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321040" y="2953512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321040" y="2990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607040" y="29900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4,500건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321040" y="3337560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8321040" y="33741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607040" y="33741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3,550건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321040" y="3721608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8321040" y="3758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사유 가짓수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607040" y="37581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321040" y="4105656"/>
            <a:ext cx="31089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32104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분야(팩)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607040" y="4142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66928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①과 ②는 축이 다릅니다 — 같은 실험이 아닙니다</a:t>
            </a:r>
            <a:endParaRPr lang="en-US" sz="1700" dirty="0"/>
          </a:p>
        </p:txBody>
      </p:sp>
      <p:sp>
        <p:nvSpPr>
          <p:cNvPr id="61" name="Text 59"/>
          <p:cNvSpPr txBox="1"/>
          <p:nvPr/>
        </p:nvSpPr>
        <p:spPr>
          <a:xfrm>
            <a:off x="868680" y="532180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①은 AI 층을 잰 것입니다 — 같은 입력에 같은 답이 나오는가.   ②는 코드 층을 잰 것입니다 — 같은 입력에 맞는 답이 나오는가.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층은 잴 필요가 없습니다(같은 입력이면 같은 출력). 그래서 ②는 재현성이 아니라 정확성을 쟀습니다.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6928" y="610819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749808" y="610819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재현되지 않는 판정은 판정이 아닙니다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흔들림이 실제로 어떤 모습인가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세 번 넣으면 회차마다 다르게 읽힙니다 — 전부 제 말뭉치에 있는 진짜 문장입니다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8" name="Image 0" descr="실측-라이브-3회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371600"/>
            <a:ext cx="6537960" cy="4910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37160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562088" y="1435608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"보너스 전부 때려박을까"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62088" y="1911096"/>
            <a:ext cx="3849624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562088" y="1956816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회차는 아무 항목도 못 읽고,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회차는 금액과 방향을 모두 읽습니다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60920" y="2505456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562088" y="2624328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"반도체가 빠진 김에 오백만 원 더 넣겠습니다.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번에 구십 일로 나눠서요"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562088" y="3182112"/>
            <a:ext cx="3849624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562088" y="3227832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물타기입니다. 회차마다 읽는 항목이 달라집니다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60920" y="3639312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562088" y="3758184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"어제 산 거 또 살까"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562088" y="4315968"/>
            <a:ext cx="3849624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562088" y="436168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들어가는 값 자체가 세 가지로 갈렸습니다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60920" y="4800600"/>
            <a:ext cx="4251960" cy="731520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562088" y="480060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D6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31건 중 16건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482328" y="480060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흔들림이 검사층에서 안 걸러지고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BAC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입력까지 그대로 갔습니다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60920" y="562356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562088" y="5623560"/>
            <a:ext cx="3849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코드층은 AI층의 흔들림을 눌러 주지 않습니다 — 그대로 통과시킵니다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0A88C"/>
          </a:solidFill>
          <a:ln w="12700">
            <a:solidFill>
              <a:srgbClr val="00A8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29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것과 남은 것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9144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가능성 — 무엇을 배웠고, 무엇이 남았는가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28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미어캣 위원회  ·  AI Master 7기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 세 가지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"모른다"에 이름을 준다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3042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못 한 것이 조용히 「위반 아님」으로 들어갔습니다.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답을 만들었습니다 — 「검사 대상 아님」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2971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읽기는 무한, 검사는 유한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2644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무한한 쪽은 AI에게, 유한한 쪽은 코드에게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40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낱말을 더해 증상을 없애지 마라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245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증상이 살아 있으면 고친 층이 틀린 것입니다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E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두 가지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519672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배선을 마저 잇는 중입니다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230428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접수층 부품은 이미 만들었고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화면까지 신호를 끝까지 잇는 일이 남았습니다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519672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가드레일 한 겹 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32644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 팔고 B 산다"에서 A와 B를 바꿔 끼워도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검사를 모두 통과합니다 — 다음에 열 자리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8404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4F6F1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519672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팩 스튜디오로 서비스 확장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42245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내부 규정을 말로 설명하면 설정 파일도 항목 구조도 AI가 만들어 주는 도구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937760"/>
            <a:ext cx="11045952" cy="566928"/>
          </a:xfrm>
          <a:prstGeom prst="roundRect">
            <a:avLst>
              <a:gd name="adj" fmla="val 12903"/>
            </a:avLst>
          </a:prstGeom>
          <a:solidFill>
            <a:srgbClr val="E4F6F1"/>
          </a:solidFill>
          <a:ln w="12700">
            <a:solidFill>
              <a:srgbClr val="AFDC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49808" y="4937760"/>
            <a:ext cx="10680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F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무엇을 맡기고 무엇을 맡기지 않을지, 감이 아니라 실측으로 정했습니다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669280"/>
            <a:ext cx="11045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그 실측 자체가, 이 프로젝트에서 AI를 가장 깊이 쓴 자리였습니다.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1653</Words>
  <Application>Microsoft Office PowerPoint</Application>
  <PresentationFormat>와이드스크린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한누리</cp:lastModifiedBy>
  <cp:revision>3</cp:revision>
  <dcterms:created xsi:type="dcterms:W3CDTF">2026-09-11T05:41:11Z</dcterms:created>
  <dcterms:modified xsi:type="dcterms:W3CDTF">2026-09-13T02:06:28Z</dcterms:modified>
</cp:coreProperties>
</file>